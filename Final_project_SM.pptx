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71" r:id="rId9"/>
    <p:sldId id="270" r:id="rId10"/>
    <p:sldId id="269" r:id="rId11"/>
    <p:sldId id="268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5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5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89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30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13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1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47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69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3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3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37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EC712-F3CA-A2BF-E52A-EF62BC916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297" y="1149771"/>
            <a:ext cx="5318189" cy="314326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4000" dirty="0">
                <a:ea typeface="+mn-lt"/>
                <a:cs typeface="+mn-lt"/>
              </a:rPr>
              <a:t>Predicting Non-Motorized Severe Crash Occurrence in Incidents Involving Vehicle-Pedestrian/Cyclist </a:t>
            </a:r>
            <a:endParaRPr lang="en-US" sz="4000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BFCBB-52B8-AB48-3DF7-2296EFC3638C}"/>
              </a:ext>
            </a:extLst>
          </p:cNvPr>
          <p:cNvSpPr txBox="1"/>
          <p:nvPr/>
        </p:nvSpPr>
        <p:spPr>
          <a:xfrm>
            <a:off x="6727809" y="5115131"/>
            <a:ext cx="52213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Calibri"/>
              </a:rPr>
              <a:t>Team – Sia Mwende &amp; Digvijay Bhagat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485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75F11-079F-3CD2-004C-B094473F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Introduction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FE989-C906-34CC-37E2-833EE461C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02" y="1940439"/>
            <a:ext cx="3991689" cy="3908586"/>
          </a:xfrm>
        </p:spPr>
        <p:txBody>
          <a:bodyPr>
            <a:normAutofit lnSpcReduction="10000"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US" sz="1800" dirty="0">
                <a:ea typeface="+mn-lt"/>
                <a:cs typeface="+mn-lt"/>
              </a:rPr>
              <a:t>The motivation behind this study is by an increasing interest in non-motorized transportation safety in U.S. cities. </a:t>
            </a:r>
          </a:p>
          <a:p>
            <a:pPr>
              <a:buFont typeface="Wingdings" panose="020B0604020202020204" pitchFamily="34" charset="0"/>
              <a:buChar char="q"/>
            </a:pPr>
            <a:endParaRPr lang="en-US" sz="1800" dirty="0">
              <a:cs typeface="Calibri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1800" dirty="0">
                <a:ea typeface="+mn-lt"/>
                <a:cs typeface="+mn-lt"/>
              </a:rPr>
              <a:t>It emphasizes the economic, environmental, and health benefits of non-motorized travel while addressing safety concerns. </a:t>
            </a:r>
          </a:p>
          <a:p>
            <a:pPr>
              <a:buFont typeface="Wingdings" panose="020B0604020202020204" pitchFamily="34" charset="0"/>
              <a:buChar char="q"/>
            </a:pPr>
            <a:endParaRPr lang="en-US" sz="1800" dirty="0"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1800" dirty="0">
                <a:ea typeface="+mn-lt"/>
                <a:cs typeface="+mn-lt"/>
              </a:rPr>
              <a:t>The specific study mentioned aims to predict severe crashes, contributing to improved safety for non-motorized transportation.</a:t>
            </a:r>
            <a:endParaRPr lang="en-US" sz="1800" dirty="0">
              <a:cs typeface="Calibri" panose="020F0502020204030204"/>
            </a:endParaRPr>
          </a:p>
          <a:p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812C8-69B4-A495-314B-80D5B2AB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717431"/>
            <a:ext cx="6155141" cy="344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4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63F3B-0559-4192-86E7-DAAA174C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b="1" dirty="0"/>
              <a:t>Data Used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91AC-5F6F-43B0-9E52-579221993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Pedestrian and cyclist crashes in Michigan from 2009 to 2021.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51,914 observations were used.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1 binary target variable and 16 predictor variable.</a:t>
            </a:r>
          </a:p>
          <a:p>
            <a:endParaRPr lang="en-GB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C561B4-FFD7-4368-AE9A-D0FA1A5D6B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92944" y="1016001"/>
            <a:ext cx="6908800" cy="526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1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2EFBC-C2F0-481E-9131-4CF493D0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b="1" dirty="0"/>
              <a:t>Methodology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6466-B8C5-4112-BE50-B338C312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77505"/>
            <a:ext cx="3427001" cy="1571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Overview structure of the data analysis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BF60CD-EA05-4997-85E6-7E5DC92AC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56" y="262529"/>
            <a:ext cx="4803474" cy="633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0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769B-35B0-4617-ABE7-16E5ADAC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0339"/>
          </a:xfrm>
        </p:spPr>
        <p:txBody>
          <a:bodyPr/>
          <a:lstStyle/>
          <a:p>
            <a:r>
              <a:rPr lang="en-GB" b="1" dirty="0"/>
              <a:t>Descriptive Statistics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A1D30-2880-4095-B262-1BC50AA03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0795"/>
            <a:ext cx="10515600" cy="914400"/>
          </a:xfrm>
        </p:spPr>
        <p:txBody>
          <a:bodyPr>
            <a:normAutofit fontScale="85000" lnSpcReduction="20000"/>
          </a:bodyPr>
          <a:lstStyle/>
          <a:p>
            <a:r>
              <a:rPr lang="en-GB" sz="2400" dirty="0"/>
              <a:t>Missing data were removed.</a:t>
            </a:r>
          </a:p>
          <a:p>
            <a:r>
              <a:rPr lang="en-GB" sz="2400" dirty="0"/>
              <a:t>Variables such as dark conditions, alcohol and midblock location have higher proportion of severe crashes compared to non-severe crashes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9648EE-30F5-4C3C-B370-21D549AD225A}"/>
              </a:ext>
            </a:extLst>
          </p:cNvPr>
          <p:cNvGraphicFramePr>
            <a:graphicFrameLocks noGrp="1"/>
          </p:cNvGraphicFramePr>
          <p:nvPr/>
        </p:nvGraphicFramePr>
        <p:xfrm>
          <a:off x="1155569" y="1301959"/>
          <a:ext cx="4147951" cy="4254081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434671">
                  <a:extLst>
                    <a:ext uri="{9D8B030D-6E8A-4147-A177-3AD203B41FA5}">
                      <a16:colId xmlns:a16="http://schemas.microsoft.com/office/drawing/2014/main" val="1003739392"/>
                    </a:ext>
                  </a:extLst>
                </a:gridCol>
                <a:gridCol w="718872">
                  <a:extLst>
                    <a:ext uri="{9D8B030D-6E8A-4147-A177-3AD203B41FA5}">
                      <a16:colId xmlns:a16="http://schemas.microsoft.com/office/drawing/2014/main" val="3975570911"/>
                    </a:ext>
                  </a:extLst>
                </a:gridCol>
                <a:gridCol w="608276">
                  <a:extLst>
                    <a:ext uri="{9D8B030D-6E8A-4147-A177-3AD203B41FA5}">
                      <a16:colId xmlns:a16="http://schemas.microsoft.com/office/drawing/2014/main" val="1599764506"/>
                    </a:ext>
                  </a:extLst>
                </a:gridCol>
                <a:gridCol w="718872">
                  <a:extLst>
                    <a:ext uri="{9D8B030D-6E8A-4147-A177-3AD203B41FA5}">
                      <a16:colId xmlns:a16="http://schemas.microsoft.com/office/drawing/2014/main" val="3304585588"/>
                    </a:ext>
                  </a:extLst>
                </a:gridCol>
                <a:gridCol w="667260">
                  <a:extLst>
                    <a:ext uri="{9D8B030D-6E8A-4147-A177-3AD203B41FA5}">
                      <a16:colId xmlns:a16="http://schemas.microsoft.com/office/drawing/2014/main" val="270854691"/>
                    </a:ext>
                  </a:extLst>
                </a:gridCol>
              </a:tblGrid>
              <a:tr h="3129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Non-severe Injury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Severe Injury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389773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Variable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Count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Percent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Count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Percent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5746287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Day of the week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8729104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Weekday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33700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6755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73%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7642409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Weekend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8997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2462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27%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13763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132123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Weather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4066063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Clear/Cloudy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37584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88%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7880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86%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8245586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Other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5085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12%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7757424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4178627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Lighting Condition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4278976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Dark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11076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26%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4412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highlight>
                            <a:srgbClr val="FFFF00"/>
                          </a:highlight>
                        </a:rPr>
                        <a:t>48%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7068970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Dawn Dusk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1988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405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5204102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Daylight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29453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4372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48%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7327123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9166174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Alcohol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213235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40434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95%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7553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82%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7479472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2263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1664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highlight>
                            <a:srgbClr val="FFFF00"/>
                          </a:highlight>
                        </a:rPr>
                        <a:t>18%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904358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8874299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Drug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308212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42412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8633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94%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457847"/>
                  </a:ext>
                </a:extLst>
              </a:tr>
              <a:tr h="1874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584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80957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9ECF7A-EB70-45BA-A3A9-9408817A852C}"/>
              </a:ext>
            </a:extLst>
          </p:cNvPr>
          <p:cNvGraphicFramePr>
            <a:graphicFrameLocks noGrp="1"/>
          </p:cNvGraphicFramePr>
          <p:nvPr/>
        </p:nvGraphicFramePr>
        <p:xfrm>
          <a:off x="5992009" y="1248728"/>
          <a:ext cx="4136297" cy="4307316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430641">
                  <a:extLst>
                    <a:ext uri="{9D8B030D-6E8A-4147-A177-3AD203B41FA5}">
                      <a16:colId xmlns:a16="http://schemas.microsoft.com/office/drawing/2014/main" val="2711547691"/>
                    </a:ext>
                  </a:extLst>
                </a:gridCol>
                <a:gridCol w="716852">
                  <a:extLst>
                    <a:ext uri="{9D8B030D-6E8A-4147-A177-3AD203B41FA5}">
                      <a16:colId xmlns:a16="http://schemas.microsoft.com/office/drawing/2014/main" val="1467222609"/>
                    </a:ext>
                  </a:extLst>
                </a:gridCol>
                <a:gridCol w="606567">
                  <a:extLst>
                    <a:ext uri="{9D8B030D-6E8A-4147-A177-3AD203B41FA5}">
                      <a16:colId xmlns:a16="http://schemas.microsoft.com/office/drawing/2014/main" val="3741575314"/>
                    </a:ext>
                  </a:extLst>
                </a:gridCol>
                <a:gridCol w="716852">
                  <a:extLst>
                    <a:ext uri="{9D8B030D-6E8A-4147-A177-3AD203B41FA5}">
                      <a16:colId xmlns:a16="http://schemas.microsoft.com/office/drawing/2014/main" val="174141305"/>
                    </a:ext>
                  </a:extLst>
                </a:gridCol>
                <a:gridCol w="665385">
                  <a:extLst>
                    <a:ext uri="{9D8B030D-6E8A-4147-A177-3AD203B41FA5}">
                      <a16:colId xmlns:a16="http://schemas.microsoft.com/office/drawing/2014/main" val="2468856276"/>
                    </a:ext>
                  </a:extLst>
                </a:gridCol>
              </a:tblGrid>
              <a:tr h="3206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Non-severe Injury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Severe Injury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03193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Variable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Count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Percent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Count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Percent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3595791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7988999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Midblock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19949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5594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61%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5250954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Intersection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22748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3623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367061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9467016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of traffic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9618131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 traffic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4918651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Divided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8427313"/>
                  </a:ext>
                </a:extLst>
              </a:tr>
              <a:tr h="31771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 physically separated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32892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6760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1890097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684347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053061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13267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2841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2873292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28400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6314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7837897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830993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3523643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Young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12673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6382669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Adult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22224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5444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074812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Elder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1776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5198199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5903498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Speed limit (mph)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4583609"/>
                  </a:ext>
                </a:extLst>
              </a:tr>
              <a:tr h="18344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0-25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43%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2249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3982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48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29D3-8131-4E65-90A5-DFCD4A8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Pre-processing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ABC3E-14CC-46D3-9723-6D31B5B68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2657"/>
            <a:ext cx="10515600" cy="1325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</a:t>
            </a:r>
            <a:r>
              <a:rPr lang="en-GB" sz="2000" dirty="0"/>
              <a:t>The data set was split into train data (80%) and test data (20%)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Data was balanced by oversampling using the ROSE package in R for training data</a:t>
            </a:r>
          </a:p>
          <a:p>
            <a:endParaRPr lang="en-GB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8DA65-7801-4D34-8F91-C5EF4EBCDF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10237" y="1383927"/>
            <a:ext cx="3466857" cy="2629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82E0FE-A21B-456D-AE3F-DD2863AC28A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90763" y="1537308"/>
            <a:ext cx="3739926" cy="2629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C20CB-6FC9-0A7D-5656-621B00818531}"/>
              </a:ext>
            </a:extLst>
          </p:cNvPr>
          <p:cNvSpPr txBox="1"/>
          <p:nvPr/>
        </p:nvSpPr>
        <p:spPr>
          <a:xfrm>
            <a:off x="2061275" y="4230386"/>
            <a:ext cx="185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DF678-5579-8E75-6F49-AD01F7E561FC}"/>
              </a:ext>
            </a:extLst>
          </p:cNvPr>
          <p:cNvSpPr txBox="1"/>
          <p:nvPr/>
        </p:nvSpPr>
        <p:spPr>
          <a:xfrm>
            <a:off x="6096000" y="4167235"/>
            <a:ext cx="185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86280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F1B9-D7C5-4EAB-B7B6-7E5CCD3A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286642"/>
            <a:ext cx="10515600" cy="774796"/>
          </a:xfrm>
        </p:spPr>
        <p:txBody>
          <a:bodyPr/>
          <a:lstStyle/>
          <a:p>
            <a:r>
              <a:rPr lang="en-GB" b="1" dirty="0"/>
              <a:t>Feature Selection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3FD3-7D1B-4230-96C9-A5EEBB45F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32" y="5086581"/>
            <a:ext cx="10843738" cy="14847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Both forward and backward yielded the same variables with similar lowest AIC. Only one variable (weather) was removed.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LASSO regularization didn’t perform well hence variables were not adopted (AIC=0.53)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A63295-2659-4ABA-88D4-D6896EDA9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34" y="1818944"/>
            <a:ext cx="3640378" cy="2929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1CF077-BB21-4E71-9CBB-50FA87CA58A7}"/>
              </a:ext>
            </a:extLst>
          </p:cNvPr>
          <p:cNvSpPr txBox="1"/>
          <p:nvPr/>
        </p:nvSpPr>
        <p:spPr>
          <a:xfrm>
            <a:off x="366816" y="1250703"/>
            <a:ext cx="452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002060"/>
                </a:solidFill>
              </a:rPr>
              <a:t>Forward and Backward Stepwise selection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6449DC-11A6-4FC9-B7E7-0AADE6B72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614" y="1809300"/>
            <a:ext cx="4897156" cy="25809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33BFA5-3C76-401C-B6B9-18DF71A5F46E}"/>
              </a:ext>
            </a:extLst>
          </p:cNvPr>
          <p:cNvSpPr txBox="1"/>
          <p:nvPr/>
        </p:nvSpPr>
        <p:spPr>
          <a:xfrm>
            <a:off x="6988323" y="1215144"/>
            <a:ext cx="4182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LASSO regularization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AE473BD-9A2A-420F-B844-12BCFA3D4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6F4848-B120-4077-87E1-55E95891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3600" b="1" dirty="0"/>
              <a:t>Machine Learning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8BA9-1013-4BC6-AC18-4A119B3F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4925" y="6000097"/>
            <a:ext cx="5257798" cy="660181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Logistic Regression, Random Forest and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XGBoost</a:t>
            </a:r>
            <a:endParaRPr lang="en-US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30BBF2-3F57-4B6D-96EC-63405C762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7" y="1217075"/>
            <a:ext cx="3589750" cy="471710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8DB11-AC1E-41AD-8963-B7DFFFD18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058" y="1217075"/>
            <a:ext cx="3567884" cy="475020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791425-9EBA-43AF-ADF2-371C18E44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70" y="1217075"/>
            <a:ext cx="3490853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699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101F1-73F1-48BC-A1C5-8BD4BE5C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sz="3700" b="1" dirty="0"/>
              <a:t>Models Evaluation Performance</a:t>
            </a:r>
            <a:endParaRPr lang="en-US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EC489-AFA0-425C-8C5E-468AA1C3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The AUROC for the </a:t>
            </a:r>
            <a:r>
              <a:rPr lang="en-GB" sz="2000" dirty="0" err="1"/>
              <a:t>XGBoost</a:t>
            </a:r>
            <a:r>
              <a:rPr lang="en-GB" sz="2000" dirty="0"/>
              <a:t> classifier is higher than that of the logistic regression and RF classifier on the test dataset.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906F0-EC42-4C03-9054-4C2A103FAC9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" t="2907" r="5124"/>
          <a:stretch/>
        </p:blipFill>
        <p:spPr bwMode="auto">
          <a:xfrm>
            <a:off x="5445457" y="1529396"/>
            <a:ext cx="6155141" cy="382294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37046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5F4D8-3220-4328-8BDD-6702AD66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b="1" dirty="0"/>
              <a:t>Feature Importance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035CD-A371-45A2-8644-0D950FB7D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Results show that factors such as speed limit of the road, alcohol involvement, lighting conditions are the most important variables in predicting non-motorized severe crash.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24F51-16C8-448B-A483-4A44AEF3425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457" y="2376510"/>
            <a:ext cx="6155141" cy="212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21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F4974-9A3A-49D0-96F1-5885CE27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GB" b="1" dirty="0"/>
              <a:t>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9BED-8B49-493C-8D26-C48E5DB8D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713313"/>
            <a:ext cx="5239657" cy="543137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900" dirty="0"/>
              <a:t>In recent years, there has been an increasing amount of interest in non-motorized safety in U.S. cities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19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1900" dirty="0"/>
              <a:t>Three machine learning algorithms were used to predict non-motorized severe crash occurrence in incidents involving vehicle-pedestrian/cyclist 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19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1900" dirty="0" err="1"/>
              <a:t>XGBoost</a:t>
            </a:r>
            <a:r>
              <a:rPr lang="en-GB" sz="1900" dirty="0"/>
              <a:t> outperformed LR and Random Forest.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19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1900" dirty="0"/>
              <a:t>Speed limit of the road, alcohol involvement, and lighting conditions are the most important variables to consider when improving the safety of non-motorized traffic.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19975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3796E02-59E7-4F88-B2DD-21B539B83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AF563D-E130-4C2A-921F-3B1A31BB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A264C72-A571-4CB8-A0B2-3BACB13D3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2DB4D3-5824-4E31-9EE2-BCEE633B2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4F2333-988D-D6C7-C59E-165A4320B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076" y="574304"/>
            <a:ext cx="10033724" cy="4649986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3039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645</Words>
  <Application>Microsoft Office PowerPoint</Application>
  <PresentationFormat>Widescreen</PresentationFormat>
  <Paragraphs>266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 </vt:lpstr>
      <vt:lpstr>Data Used</vt:lpstr>
      <vt:lpstr>Methodology</vt:lpstr>
      <vt:lpstr>Descriptive Statistics</vt:lpstr>
      <vt:lpstr>Data Pre-processing</vt:lpstr>
      <vt:lpstr>Feature Selection</vt:lpstr>
      <vt:lpstr>Machine Learning Methods</vt:lpstr>
      <vt:lpstr>Models Evaluation Performance</vt:lpstr>
      <vt:lpstr>Feature Importance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Sia Mwende</cp:lastModifiedBy>
  <cp:revision>246</cp:revision>
  <dcterms:created xsi:type="dcterms:W3CDTF">2023-11-30T05:20:01Z</dcterms:created>
  <dcterms:modified xsi:type="dcterms:W3CDTF">2023-11-30T21:39:55Z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2023-11-30T21:36:49Z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2f262a51-71ba-43a5-a657-4494d75b08fc</vt:lpwstr>
  </property>
  <property fmtid="{D5CDD505-2E9C-101B-9397-08002B2CF9AE}" pid="7" name="MSIP_Label_defa4170-0d19-0005-0004-bc88714345d2_ActionId">
    <vt:lpwstr>c614d0a0-4d9b-4bc2-aab0-c02a3648df76</vt:lpwstr>
  </property>
  <property fmtid="{D5CDD505-2E9C-101B-9397-08002B2CF9AE}" pid="8" name="MSIP_Label_defa4170-0d19-0005-0004-bc88714345d2_ContentBits">
    <vt:lpwstr>0</vt:lpwstr>
  </property>
</Properties>
</file>